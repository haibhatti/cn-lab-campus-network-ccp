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C93AEE47-2944-42CA-BF03-CBD3914632C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8A52E7E-5D4B-4E20-BC60-109B31FD393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914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AEE47-2944-42CA-BF03-CBD3914632C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2E7E-5D4B-4E20-BC60-109B31FD3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058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AEE47-2944-42CA-BF03-CBD3914632C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2E7E-5D4B-4E20-BC60-109B31FD393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874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AEE47-2944-42CA-BF03-CBD3914632C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2E7E-5D4B-4E20-BC60-109B31FD393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3392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AEE47-2944-42CA-BF03-CBD3914632C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2E7E-5D4B-4E20-BC60-109B31FD3933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314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AEE47-2944-42CA-BF03-CBD3914632C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2E7E-5D4B-4E20-BC60-109B31FD393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561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AEE47-2944-42CA-BF03-CBD3914632C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2E7E-5D4B-4E20-BC60-109B31FD3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76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AEE47-2944-42CA-BF03-CBD3914632C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2E7E-5D4B-4E20-BC60-109B31FD393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865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AEE47-2944-42CA-BF03-CBD3914632C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2E7E-5D4B-4E20-BC60-109B31FD3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759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AEE47-2944-42CA-BF03-CBD3914632C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2E7E-5D4B-4E20-BC60-109B31FD3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921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AEE47-2944-42CA-BF03-CBD3914632C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2E7E-5D4B-4E20-BC60-109B31FD393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163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AEE47-2944-42CA-BF03-CBD3914632C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2E7E-5D4B-4E20-BC60-109B31FD39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6783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AEE47-2944-42CA-BF03-CBD3914632C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2E7E-5D4B-4E20-BC60-109B31FD3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382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AEE47-2944-42CA-BF03-CBD3914632C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2E7E-5D4B-4E20-BC60-109B31FD393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69831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AEE47-2944-42CA-BF03-CBD3914632C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2E7E-5D4B-4E20-BC60-109B31FD393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293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AEE47-2944-42CA-BF03-CBD3914632C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2E7E-5D4B-4E20-BC60-109B31FD393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5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AEE47-2944-42CA-BF03-CBD3914632C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2E7E-5D4B-4E20-BC60-109B31FD393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0913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93AEE47-2944-42CA-BF03-CBD3914632C5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8A52E7E-5D4B-4E20-BC60-109B31FD3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584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b="1" dirty="0"/>
              <a:t>Campus Network Security and Guest Access Control Using VLANs and Captive Portal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 NETWORK   (LAB)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86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6305" y="1176793"/>
            <a:ext cx="9915277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</a:t>
            </a:r>
            <a:r>
              <a:rPr lang="en-US" dirty="0"/>
              <a:t> </a:t>
            </a:r>
            <a:r>
              <a:rPr lang="en-US" dirty="0" smtClean="0"/>
              <a:t>         </a:t>
            </a:r>
          </a:p>
          <a:p>
            <a:r>
              <a:rPr lang="en-US" dirty="0" smtClean="0"/>
              <a:t>Sir </a:t>
            </a:r>
            <a:r>
              <a:rPr lang="en-US" dirty="0" err="1" smtClean="0"/>
              <a:t>Fahad</a:t>
            </a:r>
            <a:r>
              <a:rPr lang="en-US" dirty="0" smtClean="0"/>
              <a:t> </a:t>
            </a:r>
            <a:r>
              <a:rPr lang="en-US" dirty="0" err="1" smtClean="0"/>
              <a:t>Irshad</a:t>
            </a:r>
            <a:endParaRPr lang="en-US" dirty="0" smtClean="0"/>
          </a:p>
          <a:p>
            <a:endParaRPr lang="en-US" sz="1600" dirty="0" smtClean="0"/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Iqra Mushtaq       F2024266237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 smtClean="0"/>
              <a:t>Nimra</a:t>
            </a:r>
            <a:r>
              <a:rPr lang="en-US" dirty="0" smtClean="0"/>
              <a:t> </a:t>
            </a:r>
            <a:r>
              <a:rPr lang="en-US" dirty="0" err="1" smtClean="0"/>
              <a:t>Shabir</a:t>
            </a:r>
            <a:r>
              <a:rPr lang="en-US" dirty="0" smtClean="0"/>
              <a:t>       F2024266204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Mubshira Khan    F2024266207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Sultan Ahmad       F2024266854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Hafiz Ahmad Islam   F2024266891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 smtClean="0"/>
              <a:t>Mobeen</a:t>
            </a:r>
            <a:r>
              <a:rPr lang="en-US" dirty="0" smtClean="0"/>
              <a:t> Ahsan         F2024266481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Spring 2026 | Computer Networks Laboratory (CN Lab) Course Project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7895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7423" y="834887"/>
            <a:ext cx="10638845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:</a:t>
            </a:r>
          </a:p>
          <a:p>
            <a:r>
              <a:rPr lang="en-US" dirty="0" smtClean="0"/>
              <a:t>Modern university campuses support multiple users including students, staff, and visitors. Providing secure and controlled network access is essential to protect institutional resources.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implements: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Network segmentation using VLANs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Guest access isolation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Captive Portal authentication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DHCP-based IP allocation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Bandwidth control using rate limiting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Secure routing between VLANs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8512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842838"/>
            <a:ext cx="1056728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 smtClean="0"/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 Goals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✔ Create separate VLANs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✔ Secure internal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✔ Implement Guest Isolation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✔ Develop Captive Portal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✔ Configure DHCP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✔ Apply Bandwidth Limitation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✔ Test Security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✔ Simulate Complete Solution in GNS3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4571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461744"/>
              </p:ext>
            </p:extLst>
          </p:nvPr>
        </p:nvGraphicFramePr>
        <p:xfrm>
          <a:off x="1061357" y="1787978"/>
          <a:ext cx="9190264" cy="3477897"/>
        </p:xfrm>
        <a:graphic>
          <a:graphicData uri="http://schemas.openxmlformats.org/drawingml/2006/table">
            <a:tbl>
              <a:tblPr/>
              <a:tblGrid>
                <a:gridCol w="4595132"/>
                <a:gridCol w="4595132"/>
              </a:tblGrid>
              <a:tr h="142510">
                <a:tc>
                  <a:txBody>
                    <a:bodyPr/>
                    <a:lstStyle/>
                    <a:p>
                      <a:r>
                        <a:rPr lang="en-US" b="1" dirty="0"/>
                        <a:t>Requirement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4591">
                <a:tc>
                  <a:txBody>
                    <a:bodyPr/>
                    <a:lstStyle/>
                    <a:p>
                      <a:r>
                        <a:rPr lang="en-US" dirty="0"/>
                        <a:t>VLAN 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Students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4591">
                <a:tc>
                  <a:txBody>
                    <a:bodyPr/>
                    <a:lstStyle/>
                    <a:p>
                      <a:r>
                        <a:rPr lang="en-US" dirty="0"/>
                        <a:t>VLAN 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Staff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4591">
                <a:tc>
                  <a:txBody>
                    <a:bodyPr/>
                    <a:lstStyle/>
                    <a:p>
                      <a:r>
                        <a:rPr lang="en-US" dirty="0"/>
                        <a:t>VLAN 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Guest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4591">
                <a:tc>
                  <a:txBody>
                    <a:bodyPr/>
                    <a:lstStyle/>
                    <a:p>
                      <a:r>
                        <a:rPr lang="en-US" dirty="0"/>
                        <a:t>Guest Isolation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 access to Student or Staff VLAN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4591">
                <a:tc>
                  <a:txBody>
                    <a:bodyPr/>
                    <a:lstStyle/>
                    <a:p>
                      <a:r>
                        <a:rPr lang="en-US" dirty="0"/>
                        <a:t>Captive Portal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Terms of Service Acceptance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4591">
                <a:tc>
                  <a:txBody>
                    <a:bodyPr/>
                    <a:lstStyle/>
                    <a:p>
                      <a:r>
                        <a:rPr lang="en-US"/>
                        <a:t>DHCP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Automatic IP Assignment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4591">
                <a:tc>
                  <a:txBody>
                    <a:bodyPr/>
                    <a:lstStyle/>
                    <a:p>
                      <a:r>
                        <a:rPr lang="en-US"/>
                        <a:t>Rate Limiting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 Mbps for Guests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04207" y="711824"/>
            <a:ext cx="12540343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Requirements: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42119"/>
              </p:ext>
            </p:extLst>
          </p:nvPr>
        </p:nvGraphicFramePr>
        <p:xfrm>
          <a:off x="1101271" y="1878996"/>
          <a:ext cx="8418286" cy="328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9143"/>
                <a:gridCol w="4209143"/>
              </a:tblGrid>
              <a:tr h="368134">
                <a:tc>
                  <a:txBody>
                    <a:bodyPr/>
                    <a:lstStyle/>
                    <a:p>
                      <a:r>
                        <a:rPr lang="en-US" dirty="0"/>
                        <a:t>Requirement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</a:tr>
              <a:tr h="368134">
                <a:tc>
                  <a:txBody>
                    <a:bodyPr/>
                    <a:lstStyle/>
                    <a:p>
                      <a:r>
                        <a:rPr lang="en-US"/>
                        <a:t>VLAN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Students Network</a:t>
                      </a:r>
                    </a:p>
                  </a:txBody>
                  <a:tcPr anchor="ctr"/>
                </a:tc>
              </a:tr>
              <a:tr h="368134">
                <a:tc>
                  <a:txBody>
                    <a:bodyPr/>
                    <a:lstStyle/>
                    <a:p>
                      <a:r>
                        <a:rPr lang="en-US"/>
                        <a:t>VLAN 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Staff Network</a:t>
                      </a:r>
                    </a:p>
                  </a:txBody>
                  <a:tcPr anchor="ctr"/>
                </a:tc>
              </a:tr>
              <a:tr h="368134">
                <a:tc>
                  <a:txBody>
                    <a:bodyPr/>
                    <a:lstStyle/>
                    <a:p>
                      <a:r>
                        <a:rPr lang="en-US"/>
                        <a:t>VLAN 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Guest Network</a:t>
                      </a:r>
                    </a:p>
                  </a:txBody>
                  <a:tcPr anchor="ctr"/>
                </a:tc>
              </a:tr>
              <a:tr h="368134">
                <a:tc>
                  <a:txBody>
                    <a:bodyPr/>
                    <a:lstStyle/>
                    <a:p>
                      <a:r>
                        <a:rPr lang="en-US"/>
                        <a:t>Guest Isolation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 access to Student or Staff VLAN</a:t>
                      </a:r>
                    </a:p>
                  </a:txBody>
                  <a:tcPr anchor="ctr"/>
                </a:tc>
              </a:tr>
              <a:tr h="368134">
                <a:tc>
                  <a:txBody>
                    <a:bodyPr/>
                    <a:lstStyle/>
                    <a:p>
                      <a:r>
                        <a:rPr lang="en-US"/>
                        <a:t>Captive Portal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Terms of Service Acceptance</a:t>
                      </a:r>
                    </a:p>
                  </a:txBody>
                  <a:tcPr anchor="ctr"/>
                </a:tc>
              </a:tr>
              <a:tr h="368134">
                <a:tc>
                  <a:txBody>
                    <a:bodyPr/>
                    <a:lstStyle/>
                    <a:p>
                      <a:r>
                        <a:rPr lang="en-US"/>
                        <a:t>DHCP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Automatic IP Assignment</a:t>
                      </a:r>
                    </a:p>
                  </a:txBody>
                  <a:tcPr anchor="ctr"/>
                </a:tc>
              </a:tr>
              <a:tr h="703894">
                <a:tc>
                  <a:txBody>
                    <a:bodyPr/>
                    <a:lstStyle/>
                    <a:p>
                      <a:r>
                        <a:rPr lang="en-US" dirty="0"/>
                        <a:t>Rate Limiting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 Mbps for Guests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20278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19" y="667909"/>
            <a:ext cx="10559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 Topology Design: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68124"/>
              </p:ext>
            </p:extLst>
          </p:nvPr>
        </p:nvGraphicFramePr>
        <p:xfrm>
          <a:off x="2266122" y="2763150"/>
          <a:ext cx="54687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4365"/>
                <a:gridCol w="2734365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024077"/>
              </p:ext>
            </p:extLst>
          </p:nvPr>
        </p:nvGraphicFramePr>
        <p:xfrm>
          <a:off x="3705308" y="3275938"/>
          <a:ext cx="884951" cy="445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951"/>
              </a:tblGrid>
              <a:tr h="44527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735843"/>
              </p:ext>
            </p:extLst>
          </p:nvPr>
        </p:nvGraphicFramePr>
        <p:xfrm>
          <a:off x="974477" y="1244453"/>
          <a:ext cx="8127999" cy="2615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/>
                <a:gridCol w="2709333"/>
                <a:gridCol w="2709333"/>
              </a:tblGrid>
              <a:tr h="493761">
                <a:tc>
                  <a:txBody>
                    <a:bodyPr/>
                    <a:lstStyle/>
                    <a:p>
                      <a:r>
                        <a:rPr lang="en-US" dirty="0"/>
                        <a:t>Device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Function</a:t>
                      </a:r>
                    </a:p>
                  </a:txBody>
                  <a:tcPr anchor="ctr"/>
                </a:tc>
              </a:tr>
              <a:tr h="493761">
                <a:tc>
                  <a:txBody>
                    <a:bodyPr/>
                    <a:lstStyle/>
                    <a:p>
                      <a:r>
                        <a:rPr lang="en-US"/>
                        <a:t>Cisco Router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Routing, DHCP, Rate Limiting</a:t>
                      </a:r>
                    </a:p>
                  </a:txBody>
                  <a:tcPr anchor="ctr"/>
                </a:tc>
              </a:tr>
              <a:tr h="493761">
                <a:tc>
                  <a:txBody>
                    <a:bodyPr/>
                    <a:lstStyle/>
                    <a:p>
                      <a:r>
                        <a:rPr lang="en-US"/>
                        <a:t>Cisco Switch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VLAN Management</a:t>
                      </a:r>
                    </a:p>
                  </a:txBody>
                  <a:tcPr anchor="ctr"/>
                </a:tc>
              </a:tr>
              <a:tr h="493761">
                <a:tc>
                  <a:txBody>
                    <a:bodyPr/>
                    <a:lstStyle/>
                    <a:p>
                      <a:r>
                        <a:rPr lang="en-US"/>
                        <a:t>Ubuntu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Captive Portal</a:t>
                      </a:r>
                    </a:p>
                  </a:txBody>
                  <a:tcPr anchor="ctr"/>
                </a:tc>
              </a:tr>
              <a:tr h="493761">
                <a:tc>
                  <a:txBody>
                    <a:bodyPr/>
                    <a:lstStyle/>
                    <a:p>
                      <a:r>
                        <a:rPr lang="en-US"/>
                        <a:t>Clients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Student, Staff, Guest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4887" y="4238046"/>
            <a:ext cx="1045596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</a:p>
          <a:p>
            <a:r>
              <a:rPr lang="en-US" dirty="0" smtClean="0"/>
              <a:t>Router ↔ Switch ↔ VLAN Clients</a:t>
            </a:r>
          </a:p>
          <a:p>
            <a:r>
              <a:rPr lang="en-US" dirty="0" smtClean="0"/>
              <a:t>Ubuntu Server connected for Captive Portal services.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0809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790" y="906449"/>
            <a:ext cx="10511624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VLAN Implementation:</a:t>
            </a:r>
          </a:p>
          <a:p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VLAN Configuration</a:t>
            </a: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 smtClean="0"/>
              <a:t>VLAN 10 – Students</a:t>
            </a:r>
          </a:p>
          <a:p>
            <a:r>
              <a:rPr lang="en-US" dirty="0" smtClean="0"/>
              <a:t>     Student devices connected </a:t>
            </a:r>
          </a:p>
          <a:p>
            <a:r>
              <a:rPr lang="en-US" dirty="0" smtClean="0"/>
              <a:t>     Secure academic access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VLAN 20 – Staff</a:t>
            </a:r>
          </a:p>
          <a:p>
            <a:r>
              <a:rPr lang="en-US" dirty="0" smtClean="0"/>
              <a:t>     Administrative access </a:t>
            </a:r>
          </a:p>
          <a:p>
            <a:r>
              <a:rPr lang="en-US" dirty="0" smtClean="0"/>
              <a:t>     Internal services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VLAN 99 – Guests</a:t>
            </a:r>
          </a:p>
          <a:p>
            <a:r>
              <a:rPr lang="en-US" dirty="0" smtClean="0"/>
              <a:t>     Internet-only access </a:t>
            </a:r>
          </a:p>
          <a:p>
            <a:r>
              <a:rPr lang="en-US" dirty="0" smtClean="0"/>
              <a:t>     Restricted permissions </a:t>
            </a:r>
          </a:p>
          <a:p>
            <a:endParaRPr lang="en-US" dirty="0" smtClean="0"/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Better security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Reduced broadcast traffic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Easier network management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1178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8497" y="954157"/>
            <a:ext cx="1046391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Captive Portal Implementation:</a:t>
            </a:r>
          </a:p>
          <a:p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Captive Portal System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Ubuntu Server Hosts</a:t>
            </a:r>
          </a:p>
          <a:p>
            <a:r>
              <a:rPr lang="en-US" dirty="0" smtClean="0"/>
              <a:t>"Terms of Service" Webpage</a:t>
            </a:r>
          </a:p>
          <a:p>
            <a:endParaRPr lang="en-US" dirty="0" smtClean="0"/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Guest connects to Wi-Fi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Redirected to Captive Portal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Terms of Service displayed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User clicks Accept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Internet access granted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 smtClean="0"/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User agreement enforcement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Access control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Improved security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6644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789" y="803082"/>
            <a:ext cx="10614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DHCP and IP Address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223165"/>
              </p:ext>
            </p:extLst>
          </p:nvPr>
        </p:nvGraphicFramePr>
        <p:xfrm>
          <a:off x="926769" y="1264747"/>
          <a:ext cx="81280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VLAN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Network Type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VLAN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Students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VLAN 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Staff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VLAN 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Guests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860797"/>
              </p:ext>
            </p:extLst>
          </p:nvPr>
        </p:nvGraphicFramePr>
        <p:xfrm>
          <a:off x="794467" y="2975997"/>
          <a:ext cx="9601200" cy="3200400"/>
        </p:xfrm>
        <a:graphic>
          <a:graphicData uri="http://schemas.openxmlformats.org/drawingml/2006/table">
            <a:tbl>
              <a:tblPr/>
              <a:tblGrid>
                <a:gridCol w="4800600"/>
                <a:gridCol w="48006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 and Rate Limiting: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Guest Isolation</a:t>
                      </a:r>
                    </a:p>
                    <a:p>
                      <a:r>
                        <a:rPr lang="en-US" dirty="0" smtClean="0"/>
                        <a:t>Guests cannot: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dirty="0" smtClean="0"/>
                        <a:t>❌ Ping Student VLAN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dirty="0" smtClean="0"/>
                        <a:t>❌ Access Staff Resources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dirty="0" smtClean="0"/>
                        <a:t>❌ Reach Internal Servers</a:t>
                      </a:r>
                    </a:p>
                    <a:p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Rate Limiting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dirty="0" smtClean="0"/>
                        <a:t>Guest bandwidth restricted.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66499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8497" y="898497"/>
            <a:ext cx="1038440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Testing</a:t>
            </a:r>
          </a:p>
          <a:p>
            <a:r>
              <a:rPr lang="en-US" b="1" dirty="0"/>
              <a:t>Security Testing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✔ Guest unable to ping Student VLAN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✔ Guest unable to ping Staff </a:t>
            </a:r>
            <a:r>
              <a:rPr lang="en-US" dirty="0" smtClean="0"/>
              <a:t>VLAN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b="1" dirty="0"/>
              <a:t>Captive Portal Testing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✔ Terms of Service page displayed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✔ Access granted after </a:t>
            </a:r>
            <a:r>
              <a:rPr lang="en-US" dirty="0" smtClean="0"/>
              <a:t>acceptance</a:t>
            </a:r>
          </a:p>
          <a:p>
            <a:endParaRPr lang="en-US" dirty="0"/>
          </a:p>
          <a:p>
            <a:r>
              <a:rPr lang="en-US" b="1" dirty="0"/>
              <a:t>Performance Testing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✔ </a:t>
            </a:r>
            <a:r>
              <a:rPr lang="en-US" dirty="0" err="1"/>
              <a:t>iPerf</a:t>
            </a:r>
            <a:r>
              <a:rPr lang="en-US" dirty="0"/>
              <a:t> used for bandwidth verification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✔ 5 Mbps limitation confirmed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3599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116</TotalTime>
  <Words>468</Words>
  <Application>Microsoft Office PowerPoint</Application>
  <PresentationFormat>Widescreen</PresentationFormat>
  <Paragraphs>159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Courier New</vt:lpstr>
      <vt:lpstr>Garamond</vt:lpstr>
      <vt:lpstr>Times New Roman</vt:lpstr>
      <vt:lpstr>Wingdings</vt:lpstr>
      <vt:lpstr>Organic</vt:lpstr>
      <vt:lpstr>Campus Network Security and Guest Access Control Using VLANs and Captive Portal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Network Security and Guest Access Control Using VLANs and Captive Portal</dc:title>
  <dc:creator>iqra mushtaq</dc:creator>
  <cp:lastModifiedBy>iqra mushtaq</cp:lastModifiedBy>
  <cp:revision>9</cp:revision>
  <dcterms:created xsi:type="dcterms:W3CDTF">2026-06-08T12:29:02Z</dcterms:created>
  <dcterms:modified xsi:type="dcterms:W3CDTF">2026-06-09T13:11:53Z</dcterms:modified>
</cp:coreProperties>
</file>